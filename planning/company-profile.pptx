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8"/>
  </p:notesMasterIdLst>
  <p:sldIdLst>
    <p:sldId id="256" r:id="rId2"/>
    <p:sldId id="272" r:id="rId3"/>
    <p:sldId id="258" r:id="rId4"/>
    <p:sldId id="273" r:id="rId5"/>
    <p:sldId id="260" r:id="rId6"/>
    <p:sldId id="261" r:id="rId7"/>
    <p:sldId id="262" r:id="rId8"/>
    <p:sldId id="263" r:id="rId9"/>
    <p:sldId id="264" r:id="rId10"/>
    <p:sldId id="275" r:id="rId11"/>
    <p:sldId id="266" r:id="rId12"/>
    <p:sldId id="267" r:id="rId13"/>
    <p:sldId id="268" r:id="rId14"/>
    <p:sldId id="276" r:id="rId15"/>
    <p:sldId id="274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2F2F2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036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Nyandwi" userId="6d939703-825e-41cb-8a92-e142764dec21" providerId="ADAL" clId="{0236F2A0-5864-48AD-BC95-CF4781A22FE9}"/>
    <pc:docChg chg="modSld">
      <pc:chgData name="Emmanuel Nyandwi" userId="6d939703-825e-41cb-8a92-e142764dec21" providerId="ADAL" clId="{0236F2A0-5864-48AD-BC95-CF4781A22FE9}" dt="2026-09-03T13:00:56.121" v="2" actId="1076"/>
      <pc:docMkLst>
        <pc:docMk/>
      </pc:docMkLst>
      <pc:sldChg chg="modSp mod">
        <pc:chgData name="Emmanuel Nyandwi" userId="6d939703-825e-41cb-8a92-e142764dec21" providerId="ADAL" clId="{0236F2A0-5864-48AD-BC95-CF4781A22FE9}" dt="2026-09-03T13:00:56.121" v="2" actId="1076"/>
        <pc:sldMkLst>
          <pc:docMk/>
          <pc:sldMk cId="2316035166" sldId="258"/>
        </pc:sldMkLst>
        <pc:picChg chg="mod">
          <ac:chgData name="Emmanuel Nyandwi" userId="6d939703-825e-41cb-8a92-e142764dec21" providerId="ADAL" clId="{0236F2A0-5864-48AD-BC95-CF4781A22FE9}" dt="2026-09-03T13:00:56.121" v="2" actId="1076"/>
          <ac:picMkLst>
            <pc:docMk/>
            <pc:sldMk cId="2316035166" sldId="258"/>
            <ac:picMk id="9" creationId="{B505623B-6045-C673-DCE3-7E9B69740F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02D01-40EB-4301-8EAA-4438DEE87BB2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45451-F82F-4288-8C39-7508EAD2B3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397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873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FB82-55DD-4D44-0E39-25BADC13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299D8-4CA9-82DE-51ED-28ED7B29A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4CA32-0A1D-C3DE-61FC-6669B5968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F79FB-5544-F05E-6265-D42E7EE8E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280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AC8D-1101-E4A2-A731-CA2EB32D6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51172-09A8-4D39-EA2C-898D44DA8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0BEFA-4E89-BFF8-D049-CB2213713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FD8FA-C79B-92A3-DED1-CF522E77A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601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66E8-1303-3602-1799-B3009F79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24DC5-85C5-D8AF-8E80-F1CE576DE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C91C8-F27A-0589-817F-30D2AE5C4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315EF-4509-B797-23A7-4F8B77A26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78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FA12-A7C7-6BE8-01C2-5815BF92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28F0D8-361A-3453-E619-B2DA0157C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61D2DF-EC57-54D0-7C40-6C63D0E26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3549DB-6302-09F1-0815-F6F059C69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03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9A275-8BA8-2578-B398-81BA44D4A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086C13-27C3-AD3F-9A1E-E8E19A1C5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54BF1-3432-7663-0819-63F382117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EB510-D4EB-917B-B8B2-D96F5809E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882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4A340-2D05-929B-C3AE-FE6C1B238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A1638-C839-03E2-F55D-C928F29A5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70F20-263E-05F0-59D5-2E5C35401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7167B-6B2E-DF43-FC71-DAB52843C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263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7C29F-A059-39F6-EA35-627EAF720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2E2CB-1C9D-246F-1F28-EC9C20087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88BB44-8C57-F589-2280-2EE7A0587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A2B60-F949-9E04-7002-1AFFDD04D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02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7181-03C7-9BFB-F2FC-3065103E0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D86B5-666A-680F-EDB4-7654006DC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9C7AF-5BB9-39E8-028D-A4D27ACC0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9D6AB-7002-4DEE-2462-48F0336A4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8811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32A3-1AE9-AE75-2C71-577D96377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A132F7-D691-8DDE-14B8-0AE032DAB4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1C5A5-C392-4BDD-4BEA-1EBAD0809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01500-5F1C-92F1-4DA7-1775A5278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4419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1DE5B-C60D-A614-8400-5D4800E8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1B32B-8D85-096B-8516-73E3A020F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882D3-5C8E-A5AC-5FF7-81058EC4B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19D11-2681-BBE0-FEDD-FD4BAFFBA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245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FD465-8178-4BBD-A577-7CBE30516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963E9-2D36-4871-AE5D-BB968DA39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DB200-AD6A-7E63-02CF-C1AA284E6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302B7-D296-9779-3A8B-E2EDF61E0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560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03F43-51E8-FAEC-381E-D899A087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DEA9E-55FB-AB19-08A6-831D8877C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A26FC3-CBFE-D865-1184-7605DA2FB7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2053F-BC46-0FF2-9050-0B33DFA3D7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40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EAFB-9E0F-A2A2-5DB4-F896A11A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37590-8EA8-D713-F66E-04A4AD67F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2ECAE-B253-9EAC-871C-87029FA82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C5F77-6495-83FD-ADBC-2568F6A19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11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C6264-B2A4-A0DE-0421-1B2EAFCE2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EBC97-D3C6-5BC3-5B5E-40641C04E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48CD1-C44C-9299-EDD2-549BAF460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88E9C-941F-69F4-5E3D-9FCBDD8DF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270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5FA73-122D-F05C-8814-4F693547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A3DB4-8BF1-0CEF-05BC-0FC90892DC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CA134-EF09-F3FB-6E0F-71678C35F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550C0-5EA4-B12B-EC4B-AF91BAB82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45451-F82F-4288-8C39-7508EAD2B30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375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92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18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940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775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94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84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95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0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34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64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03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7B027-8C6D-4B82-A5C9-44B0DB4E5FAB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C5526-8367-4B72-AAE7-0813807531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34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9F54B517-0815-9B7A-CF29-D053B5559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1" t="11291" b="46826"/>
          <a:stretch>
            <a:fillRect/>
          </a:stretch>
        </p:blipFill>
        <p:spPr>
          <a:xfrm>
            <a:off x="841248" y="1692484"/>
            <a:ext cx="10378440" cy="349643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BC866DA-D200-3E8B-D6FF-F1968835F224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E4DD3CC0-F691-A6EA-099A-CBCC37346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00EB72A8-88DD-8581-FDE1-3DEE27396616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CDEC9D8-A071-0FB4-032E-FE90EB28CCAC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7276598-2578-0EA0-2A80-031AD899E11B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C4E7B67-845B-DB5E-07BB-A1B3BE3F74A0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A9B89E9-6F73-7D51-4288-3AD17798A944}"/>
              </a:ext>
            </a:extLst>
          </p:cNvPr>
          <p:cNvSpPr txBox="1"/>
          <p:nvPr/>
        </p:nvSpPr>
        <p:spPr>
          <a:xfrm>
            <a:off x="754742" y="876682"/>
            <a:ext cx="10724169" cy="877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pt-BR" sz="2800" b="1" kern="1400" spc="-5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RADARSCAPE MOZAMBIQUE LIMITADA</a:t>
            </a:r>
            <a:endParaRPr lang="en-US" sz="3200" kern="1400" spc="-50" dirty="0"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b="1" kern="100" spc="100" dirty="0">
                <a:solidFill>
                  <a:srgbClr val="59595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 PROFILE </a:t>
            </a:r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776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99549-BC45-D197-50D9-D0E48023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391AC1FB-CDC9-C3A1-455E-C5431B7958F3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802F897B-0436-E2B3-5813-1E7C48601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8FFD7F54-1ED0-0918-DCE4-9D853428C809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DA104BA5-B021-F364-24C8-3535D536D045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C4813A2-9C60-3DC1-7BC4-96D84C9FCE6E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89F5155-5EAC-B71F-CCA6-BEC28AFDDABE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C210E74-BA6A-5F5F-BA98-5EEC7A4C5DA8}"/>
              </a:ext>
            </a:extLst>
          </p:cNvPr>
          <p:cNvSpPr txBox="1"/>
          <p:nvPr/>
        </p:nvSpPr>
        <p:spPr>
          <a:xfrm>
            <a:off x="754743" y="876682"/>
            <a:ext cx="10573258" cy="468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0000CC"/>
                </a:solidFill>
              </a:rPr>
              <a:t>Executive Summary</a:t>
            </a:r>
            <a:endParaRPr lang="pt-BR" b="1" kern="100" spc="100" dirty="0">
              <a:solidFill>
                <a:srgbClr val="0000CC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endParaRPr lang="pt-BR" sz="300" b="1" kern="100" spc="100" dirty="0">
              <a:solidFill>
                <a:srgbClr val="595959"/>
              </a:solidFill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sz="2800" dirty="0"/>
              <a:t>Radarscape Mozambique Limitada is a Mozambican engineering and construction partner positioned to help clients deliver complex projects with </a:t>
            </a:r>
            <a:r>
              <a:rPr lang="en-US" sz="2800" b="1" dirty="0"/>
              <a:t>reliability, speed, safety, quality, and commercial discipline</a:t>
            </a:r>
            <a:r>
              <a:rPr lang="en-US" sz="2800" dirty="0"/>
              <a:t>. With proven operating exposure in the Afungi LNG corridor, a strong local market presence, and access to wider group capability, Radarscape is a trusted choice for clients seeking a </a:t>
            </a:r>
            <a:r>
              <a:rPr lang="en-US" sz="2800" b="1" dirty="0"/>
              <a:t>credible local partner for Oil &amp; Gas, industrial, energy, and strategic infrastructure delivery</a:t>
            </a:r>
            <a:r>
              <a:rPr lang="en-US" sz="2800" dirty="0"/>
              <a:t>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34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C7154-B9EC-EA95-8799-1132DFD85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085A0FD-B1FA-3FB6-FF72-66E3C716DBF4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B505623B-6045-C673-DCE3-7E9B69740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1295" y="5217444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7C8F8383-FBD6-95C3-60CE-9980711A9D70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AE81108B-A9F4-2805-7195-B5B0B7BAAA97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B078AE3-90B0-7760-C8A4-846AB12D9848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5EDFC87-43FD-1943-BD49-B8915958A926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61D9E6A-F0C1-7AAD-07A6-535E9227CC9D}"/>
              </a:ext>
            </a:extLst>
          </p:cNvPr>
          <p:cNvSpPr txBox="1"/>
          <p:nvPr/>
        </p:nvSpPr>
        <p:spPr>
          <a:xfrm>
            <a:off x="754742" y="775084"/>
            <a:ext cx="10724169" cy="116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Why Choose Radarscape</a:t>
            </a:r>
            <a:endParaRPr lang="en-US" b="1" dirty="0">
              <a:solidFill>
                <a:srgbClr val="0000CC"/>
              </a:solidFill>
            </a:endParaRPr>
          </a:p>
          <a:p>
            <a:endParaRPr lang="pt-BR" b="1" kern="100" spc="100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DC0362-FEC7-0937-0EA9-E3FEDF87F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1920215"/>
              </p:ext>
            </p:extLst>
          </p:nvPr>
        </p:nvGraphicFramePr>
        <p:xfrm>
          <a:off x="801270" y="1328648"/>
          <a:ext cx="10409273" cy="1549668"/>
        </p:xfrm>
        <a:graphic>
          <a:graphicData uri="http://schemas.openxmlformats.org/drawingml/2006/table">
            <a:tbl>
              <a:tblPr firstRow="1" firstCol="1" bandRow="1"/>
              <a:tblGrid>
                <a:gridCol w="3435060">
                  <a:extLst>
                    <a:ext uri="{9D8B030D-6E8A-4147-A177-3AD203B41FA5}">
                      <a16:colId xmlns:a16="http://schemas.microsoft.com/office/drawing/2014/main" val="1212178101"/>
                    </a:ext>
                  </a:extLst>
                </a:gridCol>
                <a:gridCol w="3272676">
                  <a:extLst>
                    <a:ext uri="{9D8B030D-6E8A-4147-A177-3AD203B41FA5}">
                      <a16:colId xmlns:a16="http://schemas.microsoft.com/office/drawing/2014/main" val="1196492971"/>
                    </a:ext>
                  </a:extLst>
                </a:gridCol>
                <a:gridCol w="3701537">
                  <a:extLst>
                    <a:ext uri="{9D8B030D-6E8A-4147-A177-3AD203B41FA5}">
                      <a16:colId xmlns:a16="http://schemas.microsoft.com/office/drawing/2014/main" val="2174821588"/>
                    </a:ext>
                  </a:extLst>
                </a:gridCol>
              </a:tblGrid>
              <a:tr h="15496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Local Execution Strength</a:t>
                      </a:r>
                      <a:b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 on-ground capability in Mozambique, including experience in LNG-linked operating environments.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4">
                        <a:alpha val="4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Buyer Confidence</a:t>
                      </a:r>
                      <a:b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 HSEQ alignment, disciplined delivery, and practical commercial control.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>
                        <a:alpha val="4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Scalable Support &amp; Strategic Value</a:t>
                      </a:r>
                      <a:b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Group-backed capacity, partnership-driven delivery, local content participation, execution agility, and dependable project performance.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4">
                        <a:alpha val="4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40511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036B5B-6B9E-20E3-5FDA-C09C695F59A5}"/>
              </a:ext>
            </a:extLst>
          </p:cNvPr>
          <p:cNvSpPr txBox="1"/>
          <p:nvPr/>
        </p:nvSpPr>
        <p:spPr>
          <a:xfrm>
            <a:off x="733916" y="3138719"/>
            <a:ext cx="10582954" cy="2611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Company Snapshot</a:t>
            </a:r>
          </a:p>
          <a:p>
            <a:pPr algn="just"/>
            <a:r>
              <a:rPr lang="en-US" sz="1600" dirty="0"/>
              <a:t>Radarscape Mozambique Limitada is a </a:t>
            </a:r>
            <a:r>
              <a:rPr lang="en-US" sz="1600" b="1" dirty="0"/>
              <a:t>Mozambican engineering, construction, and infrastructure delivery company</a:t>
            </a:r>
            <a:r>
              <a:rPr lang="en-US" sz="1600" dirty="0"/>
              <a:t> serving clients in </a:t>
            </a:r>
            <a:r>
              <a:rPr lang="en-US" sz="1600" b="1" dirty="0"/>
              <a:t>Oil &amp; Gas, energy, industrial, and strategic infrastructure environments</a:t>
            </a:r>
            <a:r>
              <a:rPr lang="en-US" sz="1600" dirty="0"/>
              <a:t>. We deliver practical, execution-focused solutions that help clients complete critical projects </a:t>
            </a:r>
            <a:r>
              <a:rPr lang="en-US" sz="1600" b="1" dirty="0"/>
              <a:t>safely, on time, and with strong commercial control</a:t>
            </a:r>
            <a:r>
              <a:rPr lang="en-US" sz="1600" dirty="0"/>
              <a:t>.</a:t>
            </a:r>
          </a:p>
          <a:p>
            <a:pPr algn="just"/>
            <a:r>
              <a:rPr lang="en-US" sz="1600" dirty="0"/>
              <a:t>Established in September 2021 and operational since 2022, the company has rapidly built a </a:t>
            </a:r>
            <a:r>
              <a:rPr lang="en-US" sz="1600" b="1" dirty="0"/>
              <a:t>credible execution presence in Cabo Delgado</a:t>
            </a:r>
            <a:r>
              <a:rPr lang="en-US" sz="1600" dirty="0"/>
              <a:t>, with experience in demanding project environments linked to the </a:t>
            </a:r>
            <a:r>
              <a:rPr lang="en-US" sz="1600" b="1" dirty="0"/>
              <a:t>TotalEnergies Mozambique LNG Area 1 ecosystem</a:t>
            </a:r>
            <a:r>
              <a:rPr lang="en-US" sz="1600" dirty="0"/>
              <a:t>. This gives Radarscape relevant exposure to the standards, responsiveness, and delivery discipline expected on high-specification projects.</a:t>
            </a:r>
            <a:endParaRPr lang="en-US" sz="3200" b="1" dirty="0"/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03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91ABD-4F27-3851-6A41-7A0F7B386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4EBF0BE2-000E-355A-9F20-48847DB3778A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0FE112B6-B646-C6C9-44F1-D351ADB76C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97F6B07A-444B-0F89-FA0B-399EB1F056A7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378D3D9-451F-3927-84EF-F5E10835C211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26DAF61-CD78-C3A5-5AD0-D5B48B1AB06C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AE5E156-A326-1619-2411-D285B5B95E6E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12F6A84-83A6-BD6B-EA65-AD798A034B01}"/>
              </a:ext>
            </a:extLst>
          </p:cNvPr>
          <p:cNvSpPr txBox="1"/>
          <p:nvPr/>
        </p:nvSpPr>
        <p:spPr>
          <a:xfrm>
            <a:off x="733915" y="918031"/>
            <a:ext cx="105829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/>
              <a:t>Radarscape combines </a:t>
            </a:r>
            <a:r>
              <a:rPr lang="en-US" sz="1600" b="1" dirty="0"/>
              <a:t>local market access, execution agility, and group-backed technical depth</a:t>
            </a:r>
            <a:r>
              <a:rPr lang="en-US" sz="1600" dirty="0"/>
              <a:t>. Supported by its parent group, </a:t>
            </a:r>
            <a:r>
              <a:rPr lang="en-US" sz="1600" b="1" dirty="0" err="1"/>
              <a:t>Macefield</a:t>
            </a:r>
            <a:r>
              <a:rPr lang="en-US" sz="1600" b="1" dirty="0"/>
              <a:t> Ventures Mozambique Limitada</a:t>
            </a:r>
            <a:r>
              <a:rPr lang="en-US" sz="1600" dirty="0"/>
              <a:t>, and affiliated expertise from established regional businesses, the company gives clients a strong combination of </a:t>
            </a:r>
            <a:r>
              <a:rPr lang="en-US" sz="1600" b="1" dirty="0"/>
              <a:t>local participation, scalable delivery capability, and international project standards</a:t>
            </a:r>
            <a:r>
              <a:rPr lang="en-US" sz="1600" dirty="0"/>
              <a:t>.</a:t>
            </a:r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3DBED-1C1D-511E-C122-45FA17AC18EC}"/>
              </a:ext>
            </a:extLst>
          </p:cNvPr>
          <p:cNvSpPr txBox="1"/>
          <p:nvPr/>
        </p:nvSpPr>
        <p:spPr>
          <a:xfrm>
            <a:off x="733915" y="2108205"/>
            <a:ext cx="107241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Corporate Snapshot</a:t>
            </a:r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6D19553-BB28-2CCF-6586-FD37A324363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731223"/>
          <a:ext cx="10381488" cy="2133096"/>
        </p:xfrm>
        <a:graphic>
          <a:graphicData uri="http://schemas.openxmlformats.org/drawingml/2006/table">
            <a:tbl>
              <a:tblPr firstRow="1" firstCol="1" bandRow="1"/>
              <a:tblGrid>
                <a:gridCol w="3322076">
                  <a:extLst>
                    <a:ext uri="{9D8B030D-6E8A-4147-A177-3AD203B41FA5}">
                      <a16:colId xmlns:a16="http://schemas.microsoft.com/office/drawing/2014/main" val="709246548"/>
                    </a:ext>
                  </a:extLst>
                </a:gridCol>
                <a:gridCol w="7059412">
                  <a:extLst>
                    <a:ext uri="{9D8B030D-6E8A-4147-A177-3AD203B41FA5}">
                      <a16:colId xmlns:a16="http://schemas.microsoft.com/office/drawing/2014/main" val="38688806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Item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949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Company Name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Radarscape Mozambique Limitada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8931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Year of Establishment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119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Registration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Mozambique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8030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License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Class 7 ALVARA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655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Head Office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Maputo, Mozambique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374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Core Operating Area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BR" sz="16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Cabo Delgado (Afungi LNG Corridor)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128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Parent Company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4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Macefield</a:t>
                      </a:r>
                      <a:r>
                        <a:rPr lang="en-US" sz="16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Ventures Mozambique Limitada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5B0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54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105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9533D-6B95-ECDC-FA1E-F4864790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958081E-D898-A691-3E40-A153F9094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746" y="1886855"/>
            <a:ext cx="4882526" cy="325501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2AAF30E-6043-460C-AA7D-78640CDE50BA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99DFFFC0-863E-1475-FCD8-E49B74B57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38989750-A942-3914-CECA-AA4E0466EDD7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0AE890F2-B72D-CAAE-BD22-93CDD2005363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15A9D62-59C2-7BF4-C176-13C92364DB0F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9C1E387-5B3B-6166-C212-20D09228AE59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F698871-86FE-6820-F768-8CC0BD13919E}"/>
              </a:ext>
            </a:extLst>
          </p:cNvPr>
          <p:cNvSpPr txBox="1"/>
          <p:nvPr/>
        </p:nvSpPr>
        <p:spPr>
          <a:xfrm>
            <a:off x="733916" y="787407"/>
            <a:ext cx="560883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Purpose, Vision &amp; Values</a:t>
            </a:r>
          </a:p>
          <a:p>
            <a:endParaRPr lang="en-US" b="1" dirty="0">
              <a:solidFill>
                <a:srgbClr val="0000CC"/>
              </a:solidFill>
            </a:endParaRPr>
          </a:p>
          <a:p>
            <a:r>
              <a:rPr lang="en-US" b="1" dirty="0"/>
              <a:t>Vision</a:t>
            </a:r>
          </a:p>
          <a:p>
            <a:endParaRPr lang="en-US" sz="1000" dirty="0"/>
          </a:p>
          <a:p>
            <a:r>
              <a:rPr lang="en-US" sz="1600" dirty="0"/>
              <a:t>To be Mozambique’s most trusted and innovative Oil &amp; Gas infrastructure partner.</a:t>
            </a:r>
          </a:p>
          <a:p>
            <a:endParaRPr lang="en-US" b="1" dirty="0"/>
          </a:p>
          <a:p>
            <a:r>
              <a:rPr lang="en-US" b="1" dirty="0"/>
              <a:t>Mission</a:t>
            </a:r>
          </a:p>
          <a:p>
            <a:endParaRPr lang="en-US" sz="600" dirty="0"/>
          </a:p>
          <a:p>
            <a:r>
              <a:rPr lang="en-US" sz="1600" dirty="0"/>
              <a:t>To deliver value through strong partnerships, efficient execution, and practical solutions.</a:t>
            </a:r>
          </a:p>
          <a:p>
            <a:endParaRPr lang="en-US" b="1" dirty="0"/>
          </a:p>
          <a:p>
            <a:r>
              <a:rPr lang="en-US" b="1" dirty="0"/>
              <a:t>Core Values</a:t>
            </a:r>
          </a:p>
          <a:p>
            <a:endParaRPr lang="en-US" sz="10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Safety-first execution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Integrity and accountability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Client-focused delivery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Operational excellence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Innovation and continuous improvement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Sustainable local impact</a:t>
            </a:r>
          </a:p>
          <a:p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52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A0E58-119B-E469-9978-E6900523B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A0833540-B629-D257-3553-EA46AF1E7D4B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2FAE56D2-2174-0ECB-9B9D-22FCD4488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CBA9FA7E-1D86-17A0-C68A-11AD31EC03F0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6E3ECA47-D9A3-2B2A-71B9-73D4BBD48B25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7374434-0A35-FC2B-BF36-8C0CF6B7AF18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B2AF24-36DE-2402-D3A0-6E90B4D5C967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F378E06-6364-120E-1B94-5284BC46EF56}"/>
              </a:ext>
            </a:extLst>
          </p:cNvPr>
          <p:cNvSpPr txBox="1"/>
          <p:nvPr/>
        </p:nvSpPr>
        <p:spPr>
          <a:xfrm>
            <a:off x="733916" y="787407"/>
            <a:ext cx="7376812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Core Capabilities</a:t>
            </a:r>
          </a:p>
          <a:p>
            <a:endParaRPr lang="en-US" b="1" dirty="0"/>
          </a:p>
          <a:p>
            <a:r>
              <a:rPr lang="en-US" sz="1600" dirty="0"/>
              <a:t>We provide </a:t>
            </a:r>
            <a:r>
              <a:rPr lang="en-US" sz="1600" b="1" dirty="0"/>
              <a:t>high-value, execution-focused capabilities</a:t>
            </a:r>
            <a:r>
              <a:rPr lang="en-US" sz="1600" dirty="0"/>
              <a:t> that support clients from project planning through construction, infrastructure delivery, utilities, commissioning support, and ongoing maintenance.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b="1" dirty="0"/>
              <a:t>Engineering, Civil &amp; Industrial Construction</a:t>
            </a:r>
          </a:p>
          <a:p>
            <a:endParaRPr lang="en-US" sz="9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Civil, structural, and infrastructure construction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Mechanical and electrical installation works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Roadworks, site preparation, and earthworks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Industrial buildings, operational facilities, and support infrastructure</a:t>
            </a:r>
          </a:p>
          <a:p>
            <a:pPr marL="285750" lvl="0" indent="-285750">
              <a:buFont typeface="Courier New" panose="02070309020205020404" pitchFamily="49" charset="0"/>
              <a:buChar char="o"/>
            </a:pPr>
            <a:endParaRPr lang="en-US" sz="1600" dirty="0"/>
          </a:p>
          <a:p>
            <a:r>
              <a:rPr lang="en-US" b="1" dirty="0"/>
              <a:t>Design-Build &amp; Turnkey Delivery</a:t>
            </a:r>
          </a:p>
          <a:p>
            <a:endParaRPr lang="en-US" sz="60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Concept development and detailed engineering support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Integrated project design coordination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Turnkey delivery for selected project scopes</a:t>
            </a:r>
          </a:p>
          <a:p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01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F485-7A7E-8C78-56CB-DCE1EC25C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5FD16-B1BB-C23B-6A37-C27CD9ACB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84" t="20529" r="10318" b="26643"/>
          <a:stretch>
            <a:fillRect/>
          </a:stretch>
        </p:blipFill>
        <p:spPr>
          <a:xfrm>
            <a:off x="6574537" y="1565890"/>
            <a:ext cx="4645006" cy="362302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BF7D700-0EEC-FD9A-D66A-836EFC0EB276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80AFD191-6983-E215-87CA-E71CE3EF6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FDDE3E8C-A804-6522-57B0-A871F440F293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4D4C6FB6-2A6C-9952-46E8-9123E1E7F526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AE9B243-499E-7B9B-C34C-879053CA2CDA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CA2A67-7356-9312-A127-A9ADC1D3E2CE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118434D-FDC6-CF6A-171A-4AF32B213E5C}"/>
              </a:ext>
            </a:extLst>
          </p:cNvPr>
          <p:cNvSpPr txBox="1"/>
          <p:nvPr/>
        </p:nvSpPr>
        <p:spPr>
          <a:xfrm>
            <a:off x="733916" y="947061"/>
            <a:ext cx="5782998" cy="513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Energy, Power &amp; Electrical Infrastructure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endParaRPr lang="en-US" sz="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Low- and medium-voltage electrical systems</a:t>
            </a:r>
          </a:p>
          <a:p>
            <a:pPr marL="800100" lvl="1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Solar and renewable energy infrastructure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Substations and associated electrical works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Water, Utilities &amp; Essential Infrastructure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endParaRPr lang="en-US" sz="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Water treatment, reticulation, and distribution systems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Wastewater and support utility infrastructure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Maintenance, Facilities &amp; Operational Support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endParaRPr lang="en-US" sz="1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Civil, electrical, and HVAC maintenance services</a:t>
            </a:r>
          </a:p>
          <a:p>
            <a:pPr marL="800100" lvl="1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Industrial and commercial facilities support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Responsive maintenance teams for mission-critical environments</a:t>
            </a:r>
          </a:p>
        </p:txBody>
      </p:sp>
    </p:spTree>
    <p:extLst>
      <p:ext uri="{BB962C8B-B14F-4D97-AF65-F5344CB8AC3E}">
        <p14:creationId xmlns:p14="http://schemas.microsoft.com/office/powerpoint/2010/main" val="3106235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ECC97-84BF-E48E-B819-7341D36C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F88B3FE-36A5-C504-F25E-78726DDDA3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74" t="15618"/>
          <a:stretch>
            <a:fillRect/>
          </a:stretch>
        </p:blipFill>
        <p:spPr bwMode="auto">
          <a:xfrm>
            <a:off x="6790182" y="2099029"/>
            <a:ext cx="4439820" cy="3022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8805FB46-8CCC-DFEF-86B8-87CBC6211451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D3F1EB18-0479-CC2E-D767-4F9879684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05DD0D31-614A-A3EA-6BB4-A3B7EFD0F666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1F210E65-4343-85C6-1D94-BC9A49E18F6C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3D1A9DB-6B60-C9ED-B920-F125856705D0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3AEDE33-A475-2AE0-8F27-9D718E1E9720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755BF30-E9A1-1D97-B1DC-429EE74DFD19}"/>
              </a:ext>
            </a:extLst>
          </p:cNvPr>
          <p:cNvSpPr txBox="1"/>
          <p:nvPr/>
        </p:nvSpPr>
        <p:spPr>
          <a:xfrm>
            <a:off x="733915" y="787407"/>
            <a:ext cx="8467099" cy="6026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Relevant Project Experience</a:t>
            </a:r>
            <a:endParaRPr lang="en-US" b="1" dirty="0">
              <a:solidFill>
                <a:srgbClr val="0000CC"/>
              </a:solidFill>
            </a:endParaRPr>
          </a:p>
          <a:p>
            <a:endParaRPr lang="en-US" sz="1000" b="1" dirty="0"/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Our project experience demonstrates the ability to </a:t>
            </a: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mobilize, execute, and deliver in remote, compliance-sensitive, and operationally demanding environments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Selected Mozambique experience includes: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Rehabilitation of housing infrastructure in </a:t>
            </a:r>
            <a:r>
              <a:rPr lang="en-U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Quitunda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(Palma)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Afungi site improvement works (including Structure and steel works)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Construction of Palma fish market road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Construction of barracks and security infrastructure	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Installation of a 5MW solar PV plant in Afungi 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Afungi Airstrip Expansion 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Together, these projects demonstrate </a:t>
            </a:r>
            <a:r>
              <a:rPr lang="en-US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Radarscape’s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ability to:</a:t>
            </a:r>
          </a:p>
          <a:p>
            <a:pPr marL="800100" lvl="1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Operate under strict HSEQ and client compliance expectations</a:t>
            </a:r>
          </a:p>
          <a:p>
            <a:pPr marL="800100" lvl="1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Perform in LNG-linked and remote project environments</a:t>
            </a:r>
          </a:p>
          <a:p>
            <a:pPr marL="800100" lvl="1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Manage multi-disciplinary scopes with execution discipline</a:t>
            </a:r>
          </a:p>
          <a:p>
            <a:pPr marL="800100" lvl="1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Support local content delivery with practical on-ground capability</a:t>
            </a:r>
          </a:p>
          <a:p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300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EE78-F957-790F-A98C-563072E1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0E6735-BC8F-0ECF-597D-1B2B3D1640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1" r="40891"/>
          <a:stretch>
            <a:fillRect/>
          </a:stretch>
        </p:blipFill>
        <p:spPr>
          <a:xfrm>
            <a:off x="6372808" y="2333921"/>
            <a:ext cx="4846880" cy="279949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98531BB2-760B-C492-E067-8C6A50906479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E4F8D51C-06F0-AC49-2246-9EC9A1EFA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B7408C9C-4D33-C573-B501-BB7F2A8489AF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07C90F6-DF5A-D35F-EC24-67A8036CD327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E5D233B-E96B-B687-AC4B-D5AA11197045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064A325-4DAF-30AF-1EB7-8BE1B350C912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2D32AA-6406-548E-18F4-C74D1B7CE29C}"/>
              </a:ext>
            </a:extLst>
          </p:cNvPr>
          <p:cNvSpPr txBox="1"/>
          <p:nvPr/>
        </p:nvSpPr>
        <p:spPr>
          <a:xfrm>
            <a:off x="733915" y="787407"/>
            <a:ext cx="8467099" cy="5029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Delivery Platform &amp; Group Strength</a:t>
            </a:r>
          </a:p>
          <a:p>
            <a:endParaRPr lang="en-US" sz="1000" b="1" dirty="0"/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Through its wider group ecosystem, including affiliated regional contractors and technical businesses, Radarscape benefits from </a:t>
            </a: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broader delivery depth, cross-border expertise, and additional execution capacity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across engineering and infrastructure projects.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endParaRPr lang="en-US" sz="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Large-scale industrial and commercial projects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Energy and power infrastructure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Road, civil, and urban development works</a:t>
            </a:r>
          </a:p>
          <a:p>
            <a:pPr lvl="0" algn="just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clients, this translates into: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Greater technical depth and engineering support</a:t>
            </a:r>
          </a:p>
          <a:p>
            <a:pPr marL="342900" lvl="0" indent="-342900" algn="just">
              <a:lnSpc>
                <a:spcPct val="115000"/>
              </a:lnSpc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Enhanced project mobilization and delivery capacity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Access to broader specialist expertise when projects scale</a:t>
            </a:r>
          </a:p>
          <a:p>
            <a:endParaRPr lang="en-US" kern="100" spc="75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2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44A73-C0E6-88CD-D2CB-F92B28750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B31C5E-3FD0-5018-63FA-7FAAFD5D8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2012585"/>
            <a:ext cx="4598669" cy="30909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C4B73638-2E54-BCF0-19CC-E89384D605B0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A4CCBE7E-C03F-2621-7038-103DFA817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252B9D4C-25A2-383D-9BE1-8D34F4351319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C638F5E9-929E-8023-E083-595CC3BD732C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B1D309E-1832-BECC-AB8D-903FC0AD6A6C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8D70BC0-2905-430E-4099-E96A25D8D6C4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1645D02-8D9B-C0C5-3B27-E2334546B03E}"/>
              </a:ext>
            </a:extLst>
          </p:cNvPr>
          <p:cNvSpPr txBox="1"/>
          <p:nvPr/>
        </p:nvSpPr>
        <p:spPr>
          <a:xfrm>
            <a:off x="1007280" y="458893"/>
            <a:ext cx="6974849" cy="5778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Delivery Model</a:t>
            </a:r>
            <a:endParaRPr lang="en-US" sz="1000" b="1" dirty="0"/>
          </a:p>
          <a:p>
            <a:r>
              <a:rPr lang="en-US" sz="1600" dirty="0"/>
              <a:t>Radarscape applies a </a:t>
            </a:r>
            <a:r>
              <a:rPr lang="en-US" sz="1600" b="1" dirty="0"/>
              <a:t>flexible, partnership-enabled execution model</a:t>
            </a:r>
            <a:r>
              <a:rPr lang="en-US" sz="1600" dirty="0"/>
              <a:t> designed to help clients deliver complex scopes with the right balance of local presence, technical support, and commercial control.</a:t>
            </a:r>
          </a:p>
          <a:p>
            <a:endParaRPr lang="en-US" sz="1600" dirty="0"/>
          </a:p>
          <a:p>
            <a:r>
              <a:rPr lang="en-US" sz="1600" b="1" dirty="0"/>
              <a:t>Partnership-Driven Project Access</a:t>
            </a:r>
          </a:p>
          <a:p>
            <a:endParaRPr lang="en-US" sz="105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Collaboration with established EPC and specialist contractors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Access to complex Oil &amp; Gas and infrastructure opportunities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Balanced risk sharing and greater cost efficiency for clients</a:t>
            </a:r>
          </a:p>
          <a:p>
            <a:pPr lvl="0"/>
            <a:endParaRPr lang="en-US" sz="1600" dirty="0"/>
          </a:p>
          <a:p>
            <a:r>
              <a:rPr lang="en-US" sz="1600" b="1" dirty="0"/>
              <a:t>Execution Control &amp; Asset Strategy</a:t>
            </a:r>
          </a:p>
          <a:p>
            <a:endParaRPr lang="en-US" sz="105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Project-specific delivery teams aligned to scope and schedule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Flexible equipment strategy combining leasing, rental, and selective ownership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Disciplined cost control and efficient use of equipment and resources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US" sz="1600" dirty="0"/>
          </a:p>
          <a:p>
            <a:r>
              <a:rPr lang="en-US" sz="1600" b="1" dirty="0"/>
              <a:t>Capability Growth &amp; Localization</a:t>
            </a:r>
          </a:p>
          <a:p>
            <a:endParaRPr lang="en-US" sz="105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Ongoing expansion in engineering, execution, and commissioning support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Progressive growth of in-house delivery capability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Stronger local content participation and long-term operational autonomy</a:t>
            </a:r>
          </a:p>
          <a:p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1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12940-FB6C-18A1-3A84-628B6AE15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F6B647E-A7FF-961F-4842-D6E6BC325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48640">
            <a:off x="6819561" y="1062705"/>
            <a:ext cx="4448599" cy="399838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4ECEBA9-A862-C7D9-6915-038FC51D4A8C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7247C591-473D-2E91-B10D-41AA7D11B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9115AAFC-28D5-60DC-E05F-58AF52D28EF9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229CAAFB-6D06-B21F-5D49-BD4935648E60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931E535-1A83-7F25-26A9-7FF053E579A9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64D069B-B23A-8261-D963-F72B8AD1E100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CBE977-A590-6F74-8BBB-B3D929045F17}"/>
              </a:ext>
            </a:extLst>
          </p:cNvPr>
          <p:cNvSpPr txBox="1"/>
          <p:nvPr/>
        </p:nvSpPr>
        <p:spPr>
          <a:xfrm>
            <a:off x="1007280" y="458893"/>
            <a:ext cx="630792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Technology, Systems &amp; Controls</a:t>
            </a:r>
          </a:p>
          <a:p>
            <a:endParaRPr lang="en-US" sz="1000" b="1" dirty="0"/>
          </a:p>
          <a:p>
            <a:r>
              <a:rPr lang="en-US" dirty="0"/>
              <a:t>Radarscape uses modern project systems and digital controls to improve </a:t>
            </a:r>
            <a:r>
              <a:rPr lang="en-US" b="1" dirty="0"/>
              <a:t>planning quality, cost visibility, coordination, and execution certainty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Building Information Modeling (BIM)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b="1" dirty="0"/>
              <a:t>Digital estimating and cost control systems using CCS Candy: </a:t>
            </a:r>
            <a:r>
              <a:rPr lang="en-US" dirty="0"/>
              <a:t>a specialized, contractor-focused software suite designed for construction and engineering estimation, planning, and project control.</a:t>
            </a:r>
          </a:p>
          <a:p>
            <a:pPr lvl="0"/>
            <a:endParaRPr lang="en-US" dirty="0"/>
          </a:p>
          <a:p>
            <a:r>
              <a:rPr lang="en-US" dirty="0"/>
              <a:t>Benefits include:</a:t>
            </a:r>
          </a:p>
          <a:p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Stronger project coordination and design visibility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Better cost control and reduced rework exposure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Improved real-time monitoring for timely decision-making</a:t>
            </a:r>
          </a:p>
          <a:p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447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D5029-CEF0-AE80-2417-CFB594A4C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D9A96C6-AD15-E930-10D3-A02D67F9A91E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ED49D7C6-F4FA-9FB0-02A7-7C190AC8E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46F3E157-A23B-099F-FCE6-C83E16A2AF1A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BB117068-36A2-3151-6678-C7B3AAFF1C74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DD37DFC-D215-0C9E-0A12-B4962D39A203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C76D7F2-A66E-7E27-0F99-7756CC73E00E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484C093-D845-F96E-DA1B-C220515A4F8C}"/>
              </a:ext>
            </a:extLst>
          </p:cNvPr>
          <p:cNvSpPr txBox="1"/>
          <p:nvPr/>
        </p:nvSpPr>
        <p:spPr>
          <a:xfrm>
            <a:off x="1007279" y="458893"/>
            <a:ext cx="677237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HSEQ &amp; Compliance Assurance</a:t>
            </a:r>
          </a:p>
          <a:p>
            <a:endParaRPr lang="en-US" sz="1000" b="1" dirty="0"/>
          </a:p>
          <a:p>
            <a:r>
              <a:rPr lang="en-US" dirty="0"/>
              <a:t>Radarscape is built to operate in </a:t>
            </a:r>
            <a:r>
              <a:rPr lang="en-US" b="1" dirty="0"/>
              <a:t>high-compliance, high-consequence environments</a:t>
            </a:r>
            <a:r>
              <a:rPr lang="en-US" dirty="0"/>
              <a:t>. Our delivery approach is anchored in strong HSEQ discipline and alignment with client, regulatory, and international project requirements.</a:t>
            </a:r>
          </a:p>
          <a:p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Strict health and safety management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Quality-focused project controls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Environmental responsibility and sustainable work practices</a:t>
            </a:r>
          </a:p>
          <a:p>
            <a:pPr lvl="0"/>
            <a:endParaRPr lang="en-US" dirty="0"/>
          </a:p>
          <a:p>
            <a:r>
              <a:rPr lang="en-US" dirty="0"/>
              <a:t>For clients, this means:</a:t>
            </a:r>
          </a:p>
          <a:p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Safer project execution and reduced delivery risk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Stronger compliance with site and regulatory requirements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Greater confidence in project governance and performance</a:t>
            </a:r>
          </a:p>
          <a:p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771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D3C0-448C-0684-9D66-D862D0A1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AD6FFA-CA49-CA64-3BC0-2029E6C4E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341" y="987320"/>
            <a:ext cx="5524759" cy="414356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7C0FD2-1192-7A4C-423F-952CCDAC6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656131"/>
              </p:ext>
            </p:extLst>
          </p:nvPr>
        </p:nvGraphicFramePr>
        <p:xfrm>
          <a:off x="702479" y="1535652"/>
          <a:ext cx="3771901" cy="3337434"/>
        </p:xfrm>
        <a:graphic>
          <a:graphicData uri="http://schemas.openxmlformats.org/drawingml/2006/table">
            <a:tbl>
              <a:tblPr firstRow="1" firstCol="1" bandRow="1"/>
              <a:tblGrid>
                <a:gridCol w="3771901">
                  <a:extLst>
                    <a:ext uri="{9D8B030D-6E8A-4147-A177-3AD203B41FA5}">
                      <a16:colId xmlns:a16="http://schemas.microsoft.com/office/drawing/2014/main" val="16290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Relevant Oil &amp; Gas exposure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in the Afungi LNG operating ecosystem</a:t>
                      </a:r>
                      <a:b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Strong local presence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backed by scalable group and partner capability</a:t>
                      </a:r>
                      <a:b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Flexible commercial model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that supports cost-effective delivery</a:t>
                      </a:r>
                      <a:endParaRPr lang="en-US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EA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689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Execution agility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in challenging and remote environments</a:t>
                      </a:r>
                      <a:b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Growing in-house technical depth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across engineering and project execution</a:t>
                      </a:r>
                      <a:b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Commitment to local content</a:t>
                      </a: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and long-term market presence in Mozambique</a:t>
                      </a:r>
                      <a:endParaRPr lang="en-US" sz="1600" kern="100" dirty="0">
                        <a:effectLst/>
                        <a:highlight>
                          <a:srgbClr val="C0C0C0"/>
                        </a:highlight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559780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40AD0E17-0D5C-937A-168B-2DFF02436903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35A8B167-24F3-622C-89FD-6EE835B6E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1ACA814C-BD66-015C-E7F7-37B7D9EF6906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54D2037-59FE-1026-1AD0-0D5CB07202EE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BED8660-E41A-E953-4FD7-D1287A846F0D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FBD6C8E-F818-25CC-F84F-B3F984D1659D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DD3DE17-8040-58CF-0442-DB06231B63F1}"/>
              </a:ext>
            </a:extLst>
          </p:cNvPr>
          <p:cNvSpPr txBox="1"/>
          <p:nvPr/>
        </p:nvSpPr>
        <p:spPr>
          <a:xfrm>
            <a:off x="702479" y="820064"/>
            <a:ext cx="67723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Strategic Advantage</a:t>
            </a:r>
          </a:p>
          <a:p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928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3A1BD-34FC-F051-6213-44F1F6F55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4E666A-F258-699F-F967-4A4DE93888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51" y="916657"/>
            <a:ext cx="4801771" cy="480177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3527548-E5A1-E352-62C2-612D62A67BCB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FBAF5EB7-6C06-FC55-0B86-9C011DA13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19708F22-0C7D-597F-E241-D4A72209BFD3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E3252604-BA16-2D66-D5B7-FCBF4F681E4F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93728D2-C283-B33E-1930-C60A9DA94C74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F1669D-2AAE-BAC9-F051-DD976B82E532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EA25FB8-1064-B397-6675-EDED53EF3C0A}"/>
              </a:ext>
            </a:extLst>
          </p:cNvPr>
          <p:cNvSpPr txBox="1"/>
          <p:nvPr/>
        </p:nvSpPr>
        <p:spPr>
          <a:xfrm>
            <a:off x="702479" y="820064"/>
            <a:ext cx="677237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Market Position &amp; Growth Strategy</a:t>
            </a:r>
          </a:p>
          <a:p>
            <a:endParaRPr lang="en-US" sz="1600" b="1" dirty="0">
              <a:solidFill>
                <a:srgbClr val="0000CC"/>
              </a:solidFill>
            </a:endParaRPr>
          </a:p>
          <a:p>
            <a:r>
              <a:rPr lang="en-US" sz="1600" dirty="0"/>
              <a:t>Radarscape offers a </a:t>
            </a:r>
            <a:r>
              <a:rPr lang="en-US" sz="1600" b="1" dirty="0"/>
              <a:t>strong value proposition</a:t>
            </a:r>
            <a:r>
              <a:rPr lang="en-US" sz="1600" dirty="0"/>
              <a:t> for clients looking for a local contractor that can combine responsiveness, compliance discipline, and scalable delivery capability in Mozambique.</a:t>
            </a:r>
          </a:p>
          <a:p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Oil &amp; Gas construction and support infrastructure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Industrial and strategic infrastructure delivery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Energy and utility-linked project execution</a:t>
            </a:r>
          </a:p>
          <a:p>
            <a:pPr lvl="0"/>
            <a:endParaRPr lang="en-US" sz="1600" dirty="0"/>
          </a:p>
          <a:p>
            <a:r>
              <a:rPr lang="en-US" sz="1600" dirty="0"/>
              <a:t>The company’s growth strategy is focused on:</a:t>
            </a:r>
          </a:p>
          <a:p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Earning higher-value work through stronger execution credibility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Delivering greater value through better project control and resource efficiency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Growing into adjacent sectors while building on our Oil &amp; Gas expertise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sz="1600" dirty="0"/>
              <a:t>Building long-term client partnerships and recurring project opportunities</a:t>
            </a:r>
          </a:p>
          <a:p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131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D8D6B-4DCA-E87D-CCD2-49ADFF21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6B80B3-2DB9-1C61-96D4-46DA7FC5052F}"/>
              </a:ext>
            </a:extLst>
          </p:cNvPr>
          <p:cNvSpPr txBox="1"/>
          <p:nvPr/>
        </p:nvSpPr>
        <p:spPr>
          <a:xfrm>
            <a:off x="7975644" y="1440758"/>
            <a:ext cx="3273381" cy="38266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600" b="1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Let’s Build with Confidence</a:t>
            </a:r>
            <a:br>
              <a:rPr lang="en-US" sz="16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Radarscape is ready to support clients seeking a </a:t>
            </a:r>
            <a:r>
              <a:rPr lang="en-US" sz="1600" b="1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credible local partner with execution discipline, scalable delivery support, and a strong fit for demanding, high-compliance project environments</a:t>
            </a:r>
            <a:r>
              <a:rPr lang="en-US" sz="1600" kern="100" dirty="0">
                <a:solidFill>
                  <a:srgbClr val="FFFFFF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We welcome opportunities to engage on tenders, subcontracting partnerships, direct awards, and strategic project collaboration across Mozambique.</a:t>
            </a:r>
            <a:r>
              <a:rPr lang="en-US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3C79D2-F491-77F2-3E19-ABEE0347D015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BF055B4F-75C8-69DD-0A0F-7ADA3899C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B09177D5-E9D6-42A3-0ECF-EE77733E9527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21E4077E-B362-9C6E-3D9F-E5C97CF3D8A5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B0F6590-F6D6-F7F5-283D-D4681223128D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286F085-3DF0-B248-D78C-CB464BDDD639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AB006FC-649D-CC3C-9654-7ED57420ADBE}"/>
              </a:ext>
            </a:extLst>
          </p:cNvPr>
          <p:cNvSpPr txBox="1"/>
          <p:nvPr/>
        </p:nvSpPr>
        <p:spPr>
          <a:xfrm>
            <a:off x="702478" y="820064"/>
            <a:ext cx="714612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Leadership, Team &amp; Execution Support</a:t>
            </a:r>
          </a:p>
          <a:p>
            <a:endParaRPr lang="en-US" sz="1600" b="1" dirty="0">
              <a:solidFill>
                <a:srgbClr val="0000CC"/>
              </a:solidFill>
            </a:endParaRPr>
          </a:p>
          <a:p>
            <a:r>
              <a:rPr lang="en-US" dirty="0"/>
              <a:t>Our delivery model is supported by a multidisciplinary team equipped to manage </a:t>
            </a:r>
            <a:r>
              <a:rPr lang="en-US" b="1" dirty="0"/>
              <a:t>technical coordination, commercial control, procurement, HSEQ, and site execution</a:t>
            </a:r>
            <a:r>
              <a:rPr lang="en-US" dirty="0"/>
              <a:t> across diverse project scopes.</a:t>
            </a:r>
          </a:p>
          <a:p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Engineers and project managers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Quantity surveyors and HSE specialists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Commercial, procurement, and logistics professionals </a:t>
            </a:r>
          </a:p>
          <a:p>
            <a:pPr lvl="0"/>
            <a:endParaRPr lang="en-US" dirty="0"/>
          </a:p>
          <a:p>
            <a:r>
              <a:rPr lang="en-US" dirty="0"/>
              <a:t>This is reinforced by:</a:t>
            </a:r>
          </a:p>
          <a:p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Group-level support in legal, commercial, tax, and contract management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US" dirty="0"/>
              <a:t>A flexible staffing model that scales with project demand</a:t>
            </a:r>
          </a:p>
          <a:p>
            <a:endParaRPr lang="en-US" kern="100" spc="75" dirty="0">
              <a:solidFill>
                <a:srgbClr val="595959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86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133F7-1AF3-9406-3C41-CC79B2885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CC19134D-D260-E0F3-BE8E-49F0AC19BA0E}"/>
              </a:ext>
            </a:extLst>
          </p:cNvPr>
          <p:cNvGrpSpPr/>
          <p:nvPr/>
        </p:nvGrpSpPr>
        <p:grpSpPr>
          <a:xfrm>
            <a:off x="1870" y="0"/>
            <a:ext cx="12196614" cy="7737167"/>
            <a:chOff x="1870" y="0"/>
            <a:chExt cx="12196614" cy="7737167"/>
          </a:xfrm>
        </p:grpSpPr>
        <p:pic>
          <p:nvPicPr>
            <p:cNvPr id="9" name="Picture 8" descr="A logo of a company&#10;&#10;AI-generated content may be incorrect.">
              <a:extLst>
                <a:ext uri="{FF2B5EF4-FFF2-40B4-BE49-F238E27FC236}">
                  <a16:creationId xmlns:a16="http://schemas.microsoft.com/office/drawing/2014/main" id="{40F51FF0-4E69-C8B3-54E9-8A9B865DA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74379" y="5188913"/>
              <a:ext cx="2717621" cy="1457864"/>
            </a:xfrm>
            <a:prstGeom prst="rect">
              <a:avLst/>
            </a:prstGeom>
          </p:spPr>
        </p:pic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315B19B2-7A65-E662-7513-42D683F36206}"/>
                </a:ext>
              </a:extLst>
            </p:cNvPr>
            <p:cNvSpPr>
              <a:spLocks/>
            </p:cNvSpPr>
            <p:nvPr/>
          </p:nvSpPr>
          <p:spPr>
            <a:xfrm flipH="1">
              <a:off x="11328000" y="5994000"/>
              <a:ext cx="864000" cy="864000"/>
            </a:xfrm>
            <a:prstGeom prst="rtTriangle">
              <a:avLst/>
            </a:prstGeom>
            <a:solidFill>
              <a:srgbClr val="FFC000">
                <a:alpha val="4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1AE213AF-1F72-C8FE-60B5-05DBBA4C92D2}"/>
                </a:ext>
              </a:extLst>
            </p:cNvPr>
            <p:cNvSpPr>
              <a:spLocks/>
            </p:cNvSpPr>
            <p:nvPr/>
          </p:nvSpPr>
          <p:spPr>
            <a:xfrm rot="13437477" flipH="1">
              <a:off x="9147886" y="5994139"/>
              <a:ext cx="1818810" cy="1743028"/>
            </a:xfrm>
            <a:prstGeom prst="rtTriangle">
              <a:avLst/>
            </a:prstGeom>
            <a:solidFill>
              <a:srgbClr val="92D050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1AEC736-125E-B770-B4A7-09872BBEE935}"/>
                </a:ext>
              </a:extLst>
            </p:cNvPr>
            <p:cNvSpPr>
              <a:spLocks/>
            </p:cNvSpPr>
            <p:nvPr/>
          </p:nvSpPr>
          <p:spPr>
            <a:xfrm>
              <a:off x="10699749" y="3278221"/>
              <a:ext cx="1498735" cy="2233579"/>
            </a:xfrm>
            <a:custGeom>
              <a:avLst/>
              <a:gdLst>
                <a:gd name="connsiteX0" fmla="*/ 0 w 1527242"/>
                <a:gd name="connsiteY0" fmla="*/ 1624519 h 2237362"/>
                <a:gd name="connsiteX1" fmla="*/ 671208 w 1527242"/>
                <a:gd name="connsiteY1" fmla="*/ 2237362 h 2237362"/>
                <a:gd name="connsiteX2" fmla="*/ 1517514 w 1527242"/>
                <a:gd name="connsiteY2" fmla="*/ 1342417 h 2237362"/>
                <a:gd name="connsiteX3" fmla="*/ 1527242 w 1527242"/>
                <a:gd name="connsiteY3" fmla="*/ 0 h 2237362"/>
                <a:gd name="connsiteX4" fmla="*/ 0 w 1527242"/>
                <a:gd name="connsiteY4" fmla="*/ 1624519 h 2237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7242" h="2237362">
                  <a:moveTo>
                    <a:pt x="0" y="1624519"/>
                  </a:moveTo>
                  <a:lnTo>
                    <a:pt x="671208" y="2237362"/>
                  </a:lnTo>
                  <a:lnTo>
                    <a:pt x="1517514" y="1342417"/>
                  </a:lnTo>
                  <a:cubicBezTo>
                    <a:pt x="1520757" y="894945"/>
                    <a:pt x="1523999" y="447472"/>
                    <a:pt x="1527242" y="0"/>
                  </a:cubicBezTo>
                  <a:lnTo>
                    <a:pt x="0" y="1624519"/>
                  </a:lnTo>
                  <a:close/>
                </a:path>
              </a:pathLst>
            </a:custGeom>
            <a:solidFill>
              <a:schemeClr val="accent1">
                <a:lumMod val="75000"/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2424AF-9B37-A13F-F011-3717E0DC594A}"/>
                </a:ext>
              </a:extLst>
            </p:cNvPr>
            <p:cNvSpPr>
              <a:spLocks/>
            </p:cNvSpPr>
            <p:nvPr/>
          </p:nvSpPr>
          <p:spPr>
            <a:xfrm>
              <a:off x="1870" y="0"/>
              <a:ext cx="10697880" cy="5607049"/>
            </a:xfrm>
            <a:custGeom>
              <a:avLst/>
              <a:gdLst>
                <a:gd name="connsiteX0" fmla="*/ 0 w 10739535"/>
                <a:gd name="connsiteY0" fmla="*/ 0 h 5626359"/>
                <a:gd name="connsiteX1" fmla="*/ 5523723 w 10739535"/>
                <a:gd name="connsiteY1" fmla="*/ 18661 h 5626359"/>
                <a:gd name="connsiteX2" fmla="*/ 10739535 w 10739535"/>
                <a:gd name="connsiteY2" fmla="*/ 4907902 h 5626359"/>
                <a:gd name="connsiteX3" fmla="*/ 10039739 w 10739535"/>
                <a:gd name="connsiteY3" fmla="*/ 5626359 h 5626359"/>
                <a:gd name="connsiteX4" fmla="*/ 5029200 w 10739535"/>
                <a:gd name="connsiteY4" fmla="*/ 942392 h 5626359"/>
                <a:gd name="connsiteX5" fmla="*/ 9331 w 10739535"/>
                <a:gd name="connsiteY5" fmla="*/ 905069 h 5626359"/>
                <a:gd name="connsiteX6" fmla="*/ 0 w 10739535"/>
                <a:gd name="connsiteY6" fmla="*/ 0 h 5626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39535" h="5626359">
                  <a:moveTo>
                    <a:pt x="0" y="0"/>
                  </a:moveTo>
                  <a:lnTo>
                    <a:pt x="5523723" y="18661"/>
                  </a:lnTo>
                  <a:lnTo>
                    <a:pt x="10739535" y="4907902"/>
                  </a:lnTo>
                  <a:lnTo>
                    <a:pt x="10039739" y="5626359"/>
                  </a:lnTo>
                  <a:lnTo>
                    <a:pt x="5029200" y="942392"/>
                  </a:lnTo>
                  <a:lnTo>
                    <a:pt x="9331" y="905069"/>
                  </a:lnTo>
                  <a:cubicBezTo>
                    <a:pt x="6221" y="603379"/>
                    <a:pt x="3110" y="301690"/>
                    <a:pt x="0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  <a:alpha val="3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4D50681-5F22-19FF-F134-590814B6EAA2}"/>
              </a:ext>
            </a:extLst>
          </p:cNvPr>
          <p:cNvSpPr txBox="1"/>
          <p:nvPr/>
        </p:nvSpPr>
        <p:spPr>
          <a:xfrm>
            <a:off x="1943100" y="1173526"/>
            <a:ext cx="8139529" cy="4433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pt-PT" sz="44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CONTACT INFORMATION</a:t>
            </a:r>
            <a:endParaRPr lang="en-US" sz="4800" b="1" kern="100" dirty="0">
              <a:solidFill>
                <a:srgbClr val="0F4761"/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rgbClr val="000000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🏢</a:t>
            </a:r>
            <a:r>
              <a:rPr lang="pt-BR" sz="2400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Radarscape Mozambique Limitada</a:t>
            </a:r>
            <a:br>
              <a:rPr lang="pt-BR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400" kern="100" dirty="0">
                <a:solidFill>
                  <a:srgbClr val="000000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📍</a:t>
            </a:r>
            <a:r>
              <a:rPr lang="pt-BR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Av. do Zimbabwe, No. 1512</a:t>
            </a:r>
            <a:br>
              <a:rPr lang="pt-BR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Bairro da Sommershield</a:t>
            </a:r>
            <a:br>
              <a:rPr lang="pt-BR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pt-BR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Maputo, Mozambique</a:t>
            </a:r>
            <a:br>
              <a:rPr lang="pt-BR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US" sz="2400" kern="100" dirty="0">
                <a:solidFill>
                  <a:srgbClr val="000000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📞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BR" sz="2400" b="1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Tel:</a:t>
            </a:r>
            <a:r>
              <a:rPr lang="pt-BR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+258 849 459 905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rgbClr val="000000"/>
                </a:solidFill>
                <a:effectLst/>
                <a:latin typeface="Segoe UI Emoji" panose="020B0502040204020203" pitchFamily="34" charset="0"/>
                <a:ea typeface="Aptos" panose="020B0004020202020204" pitchFamily="34" charset="0"/>
                <a:cs typeface="Segoe UI Emoji" panose="020B0502040204020203" pitchFamily="34" charset="0"/>
              </a:rPr>
              <a:t>✉️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Email: info@radarscapegroup.com</a:t>
            </a:r>
            <a:endParaRPr lang="en-US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4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E446E3-A1E5-4C3E-A281-A1A01665267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6eafbd2-e15f-40d4-beb3-52126e88dc2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1378</Words>
  <Application>Microsoft Office PowerPoint</Application>
  <PresentationFormat>Widescreen</PresentationFormat>
  <Paragraphs>203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Calibri Light</vt:lpstr>
      <vt:lpstr>Courier New</vt:lpstr>
      <vt:lpstr>Segoe UI Emoji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Alves Mudumane</dc:creator>
  <cp:lastModifiedBy>Emmanuel Nyandwi</cp:lastModifiedBy>
  <cp:revision>26</cp:revision>
  <dcterms:created xsi:type="dcterms:W3CDTF">2025-03-28T08:26:22Z</dcterms:created>
  <dcterms:modified xsi:type="dcterms:W3CDTF">2026-09-03T13:00:59Z</dcterms:modified>
</cp:coreProperties>
</file>